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91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11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91628"/>
          </a:solidFill>
          <a:ln w="12700">
            <a:solidFill>
              <a:srgbClr val="09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FB0"/>
          </a:solidFill>
          <a:ln w="12700">
            <a:solidFill>
              <a:srgbClr val="2ECF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292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Real Estate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" y="6583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2E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</a:t>
            </a:r>
            <a:r>
              <a:rPr lang="en-US" sz="2000" b="1" dirty="0">
                <a:solidFill>
                  <a:srgbClr val="2E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042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· Power BI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371600"/>
            <a:ext cx="28346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E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" y="1874520"/>
            <a:ext cx="91440" cy="91440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8105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neighborhood commands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property prices?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2441448"/>
            <a:ext cx="91440" cy="91440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377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property size affect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selling price?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4592" y="3008376"/>
            <a:ext cx="91440" cy="91440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29443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across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Mid &amp; High-End listings?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4592" y="3575304"/>
            <a:ext cx="91440" cy="91440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5112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construction activity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trended over decades?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93008" y="201168"/>
            <a:ext cx="1280160" cy="804672"/>
          </a:xfrm>
          <a:prstGeom prst="rect">
            <a:avLst/>
          </a:prstGeom>
          <a:solidFill>
            <a:srgbClr val="0F2F55"/>
          </a:solidFill>
          <a:ln w="6350">
            <a:solidFill>
              <a:srgbClr val="1A4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201168"/>
            <a:ext cx="1280160" cy="50292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93008" y="658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10328" y="201168"/>
            <a:ext cx="1280160" cy="804672"/>
          </a:xfrm>
          <a:prstGeom prst="rect">
            <a:avLst/>
          </a:prstGeom>
          <a:solidFill>
            <a:srgbClr val="0F2F55"/>
          </a:solidFill>
          <a:ln w="6350">
            <a:solidFill>
              <a:srgbClr val="1A4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201168"/>
            <a:ext cx="1280160" cy="50292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$224K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10328" y="658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27648" y="201168"/>
            <a:ext cx="1280160" cy="804672"/>
          </a:xfrm>
          <a:prstGeom prst="rect">
            <a:avLst/>
          </a:prstGeom>
          <a:solidFill>
            <a:srgbClr val="0F2F55"/>
          </a:solidFill>
          <a:ln w="6350">
            <a:solidFill>
              <a:srgbClr val="1A4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201168"/>
            <a:ext cx="1280160" cy="50292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$492K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7648" y="658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44968" y="201168"/>
            <a:ext cx="1280160" cy="804672"/>
          </a:xfrm>
          <a:prstGeom prst="rect">
            <a:avLst/>
          </a:prstGeom>
          <a:solidFill>
            <a:srgbClr val="0F2F55"/>
          </a:solidFill>
          <a:ln w="6350">
            <a:solidFill>
              <a:srgbClr val="1A4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201168"/>
            <a:ext cx="1280160" cy="50292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44968" y="658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Sqft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93008" y="120700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E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93008" y="1554480"/>
            <a:ext cx="2542032" cy="1115568"/>
          </a:xfrm>
          <a:prstGeom prst="rect">
            <a:avLst/>
          </a:prstGeom>
          <a:solidFill>
            <a:srgbClr val="0F24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1554480"/>
            <a:ext cx="50292" cy="111556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21024" y="1682496"/>
            <a:ext cx="292608" cy="292608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1024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86784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Leads Pricing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21024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properties avg $227K — highest among all neighborhoods, 2% above market average.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1554480"/>
            <a:ext cx="2542032" cy="1115568"/>
          </a:xfrm>
          <a:prstGeom prst="rect">
            <a:avLst/>
          </a:prstGeom>
          <a:solidFill>
            <a:srgbClr val="0F24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1554480"/>
            <a:ext cx="50292" cy="111556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45936" y="1682496"/>
            <a:ext cx="292608" cy="292608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11696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Drives Value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45936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between SquareFeet and Price — larger homes consistently fetch higher prices.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93008" y="2816352"/>
            <a:ext cx="2542032" cy="1115568"/>
          </a:xfrm>
          <a:prstGeom prst="rect">
            <a:avLst/>
          </a:prstGeom>
          <a:solidFill>
            <a:srgbClr val="0F24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93008" y="2816352"/>
            <a:ext cx="50292" cy="111556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21024" y="2944368"/>
            <a:ext cx="292608" cy="292608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21024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86784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Market Split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21024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Mid-Range &amp; High-End listings each account for exactly 33.3% — a balanced, diversified market.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17920" y="2816352"/>
            <a:ext cx="2542032" cy="1115568"/>
          </a:xfrm>
          <a:prstGeom prst="rect">
            <a:avLst/>
          </a:prstGeom>
          <a:solidFill>
            <a:srgbClr val="0F24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2816352"/>
            <a:ext cx="50292" cy="111556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5936" y="2944368"/>
            <a:ext cx="292608" cy="292608"/>
          </a:xfrm>
          <a:prstGeom prst="ellipse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11696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Era: 1960s–1990s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45936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properties were built between 1960–1990. Post-2010 construction shows a notable decline.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493008" y="4160520"/>
            <a:ext cx="5394960" cy="804672"/>
          </a:xfrm>
          <a:prstGeom prst="rect">
            <a:avLst/>
          </a:prstGeom>
          <a:solidFill>
            <a:srgbClr val="0A2A3A"/>
          </a:solidFill>
          <a:ln w="10160">
            <a:solidFill>
              <a:srgbClr val="1A7F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21024" y="42245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2E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 FOR INVESTORS &amp; AGENTS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21024" y="444398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Urban listings for premium ROI   Target 2,500+ sqft properties for high-end buyers   Focus on post-2000 builds for modern amenities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4592" y="495604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Real Estate Intelligence Dashboard  ·  Power BI  ·  50,000 Properties Analyzed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On-screen Show (16:9)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Dubai Real Estate Dashboard Summary</dc:title>
  <dc:subject>PptxGenJS Presentation</dc:subject>
  <dc:creator>PptxGenJS</dc:creator>
  <cp:lastModifiedBy>Akash Chauhan</cp:lastModifiedBy>
  <cp:revision>3</cp:revision>
  <dcterms:created xsi:type="dcterms:W3CDTF">2026-05-14T06:02:48Z</dcterms:created>
  <dcterms:modified xsi:type="dcterms:W3CDTF">2026-05-14T06:16:29Z</dcterms:modified>
</cp:coreProperties>
</file>